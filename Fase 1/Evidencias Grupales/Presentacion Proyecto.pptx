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rK3lahpjX+fLFBgsjUxFb3Bl4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Portada — nombre del proyecto y los 3 perfiles que lo componen.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Dos caras del mismo problema: quien contrata y quien quiere postular, sin canal común.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LicitaWatch como plataforma privada y autosostenible, sin depender de portales externos.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Leer el objetivo general una sola vez, sin detenerse en cada cláusula.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Recorrer la grilla rápido, agrupando de a dos: identidad y publicación; búsqueda y ventas; pagos y administración.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Los 3 perfiles se autentican vía JWT y RBAC; cada uno ve solo lo habilitado para su rol.</a:t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Los planes limitan volumen y soporte, no las funciones esenciales: registro, búsqueda y postulación básica siempre están disponibles.</a:t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Administrador supervisa ambos flujos — licitaciones y ventas/pagos — desde el panel de administración.</a:t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LicitAsist usa el Free Tier de Groq: sujeto a límites de uso, no es un servicio gratuito ilimitado.</a:t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Sin bus de mensajería: los servicios se llaman directo por REST cuando ocurre un evento relevante.</a:t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Un solo protocolo entre servicios: REST síncrono. El Gateway concentra la seguridad antes de enrutar a cada API.</a:t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usuario es la tabla central; licitador/pyme/administrador son extensiones 1:1 según el rol.</a:t>
            </a:r>
            <a:endParaRPr/>
          </a:p>
        </p:txBody>
      </p:sp>
      <p:sp>
        <p:nvSpPr>
          <p:cNvPr id="358" name="Google Shape;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Este es el corazón del ciclo de licitación: publicar (licitacion) y postular (postulacion).</a:t>
            </a:r>
            <a:endParaRPr/>
          </a:p>
        </p:txBody>
      </p:sp>
      <p:sp>
        <p:nvSpPr>
          <p:cNvPr id="424" name="Google Shape;4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Cadena lineal: plan → suscripción → venta → pago, cada tabla referenciando a la anterior.</a:t>
            </a:r>
            <a:endParaRPr/>
          </a:p>
        </p:txBody>
      </p:sp>
      <p:sp>
        <p:nvSpPr>
          <p:cNvPr id="466" name="Google Shape;4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API Asistente no tiene diapositiva propia de modelo de datos: no guarda información, solo orquesta a las otras cuatro APIs.</a:t>
            </a:r>
            <a:endParaRPr/>
          </a:p>
        </p:txBody>
      </p:sp>
      <p:sp>
        <p:nvSpPr>
          <p:cNvPr id="522" name="Google Shape;5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MVP cubre el ciclo completo de licitación y venta; queda fuera todo lo que no es indispensable para demostrarlo.</a:t>
            </a:r>
            <a:endParaRPr/>
          </a:p>
        </p:txBody>
      </p:sp>
      <p:sp>
        <p:nvSpPr>
          <p:cNvPr id="556" name="Google Shape;55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≈40 seg. Recorrer la línea de sprints señalando solo el hito clave (S7: integración de pagos) sin leer los ocho nombres en detalle.</a:t>
            </a:r>
            <a:endParaRPr/>
          </a:p>
        </p:txBody>
      </p:sp>
      <p:sp>
        <p:nvSpPr>
          <p:cNvPr id="584" name="Google Shape;5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Cierre y espacio para preguntas.</a:t>
            </a:r>
            <a:endParaRPr/>
          </a:p>
        </p:txBody>
      </p:sp>
      <p:sp>
        <p:nvSpPr>
          <p:cNvPr id="627" name="Google Shape;6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16344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·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788920"/>
            <a:ext cx="960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Plataforma privada de gestión de licitaciones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72000"/>
            <a:ext cx="1764792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457200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88920" y="4572000"/>
            <a:ext cx="1051560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788920" y="45720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41648" y="4572000"/>
            <a:ext cx="2121408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041648" y="457200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CLIENTE Y 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mercado privado, sin canal propio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lert_white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280160" y="16002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licitaciones privadas se gestionan hoy con planillas, correos y contactos — sin una plataforma propia que las centralice.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35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868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Empresas que necesitan contratar obras, servicios o insumos no tienen un canal controlado para publicar sus procesos ni recibir postulantes calificados.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2514600"/>
            <a:ext cx="5349240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s_gol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91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717804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9224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Pymes que ofrecen esos servicios no tienen un lugar centralizado donde buscar, comparar y postular — pierden oportunidades por falta de visibilidad.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Una plataforma privada donde nuestra empresa controla la tecnología y el negocio.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975104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white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984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777240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 publican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822960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Publican y administran sus licitaciones de principio a fin.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334256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760720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4562856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 postulan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4608576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Buscan, filtran y postulan a las licitaciones abiertas.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119872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546336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9216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8348472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Planes propios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394192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 operación se financia con suscripciones, no con terceros.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77240" y="2148840"/>
            <a:ext cx="1463040" cy="14630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rget_gol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514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2606040" y="2011680"/>
            <a:ext cx="90068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2926080" y="201168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privada, basada en microservicios, que permita a los Licitadores publicar y administrar licitaciones, a las Pymes buscar y postular, y operar el negocio mediante perfiles de usuario, planes de suscripción y una pasarela de pagos integrada — complementado con un asistente de inteligencia artificial que facilite la publicación y la postulación.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Seis frentes de trabajo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1828800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1781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777240" y="2697480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777240" y="31089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JWT y control de acceso por rol (RBAC).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334256" y="1828800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62856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557" y="21781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4562856" y="2697480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de licitaciones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4562856" y="31089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CRUD completo para los Licitadores.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119872" y="1828800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348472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108" name="Google Shape;1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9173" y="21781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8348472" y="2697480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postulación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348472" y="310896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Pymes filtran y postulan.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3858768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113" name="Google Shape;11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941" y="4208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777240" y="4727448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777240" y="5138928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 de suscripción y transacciones.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334256" y="3858768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62856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reditcard_white.png" id="118" name="Google Shape;11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557" y="4208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4562856" y="4727448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562856" y="5138928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Cobro de los planes Estándar y Premium.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119872" y="3858768"/>
            <a:ext cx="3584448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348472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ttings_white.png" id="123" name="Google Shape;12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9173" y="4208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8348472" y="4727448"/>
            <a:ext cx="3127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8348472" y="5138928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Usuarios, licitadores, pymes y licitaciones.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PERFILES DEL 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Tres perfiles, un solo sistema de identidad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318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804672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804672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y administra licitaciones. Define condiciones y plazos, y revisa postulaciones.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804672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804672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987552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Publicar licitación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987552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Editar / cerrar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04672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987552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postulantes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334256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90288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s_gold.png"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934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4590288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590288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Busca, revisa y postula a licitaciones publicadas. Administra su suscripción.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>
            <a:off x="4590288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773168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Buscar y filtrar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4773168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90288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4773168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estado de postulación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119872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375904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hield_gold.png" id="161" name="Google Shape;16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8550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8375904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8375904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Pertenece a LicitaWatch. Administra usuarios, licitaciones y el funcionamiento general.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6"/>
          <p:cNvCxnSpPr/>
          <p:nvPr/>
        </p:nvCxnSpPr>
        <p:spPr>
          <a:xfrm>
            <a:off x="8375904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8375904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558784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375904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8558784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Moderar licitaciones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375904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8558784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ventas y suscripciones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Ingresos por suscripción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Dos planes financian la operación de la plataforma.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1965960"/>
            <a:ext cx="534924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5225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ESTÁNDAR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86868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Acceso funcional para comenzar a publicar o postular.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202" y="33960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128016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/ búsqueda con límite mensual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202" y="38532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128016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 limitadas por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202" y="43104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28016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Soporte estándar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172200" y="1965960"/>
            <a:ext cx="5349240" cy="3749040"/>
          </a:xfrm>
          <a:prstGeom prst="roundRect">
            <a:avLst>
              <a:gd fmla="val 2439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49224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Acceso ampliado para mayor volumen de operación.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92240" y="3337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762" y="33960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690372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Publicaciones y postulaciones ilimitadas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92240" y="37947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0" name="Google Shape;2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762" y="38532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690372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de visibilidad en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42519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762" y="431048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prioritario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Del registro a la postulación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>
            <a:off x="2000250" y="2743200"/>
            <a:ext cx="8161020" cy="0"/>
          </a:xfrm>
          <a:prstGeom prst="straightConnector1">
            <a:avLst/>
          </a:prstGeom>
          <a:noFill/>
          <a:ln cap="flat" cmpd="sng" w="381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163449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white.png"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737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74980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86868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se registra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86868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Elige un plan y publica su licitación.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35483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221" name="Google Shape;2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771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347014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358902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 busca y postula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58902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Filtra licitaciones y envía su propuesta.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07517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805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619048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630936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decide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630936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Revisa postulaciones y elige.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795510" y="2377440"/>
            <a:ext cx="731520" cy="731520"/>
          </a:xfrm>
          <a:prstGeom prst="ellipse">
            <a:avLst/>
          </a:prstGeom>
          <a:solidFill>
            <a:srgbClr val="3A5A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231" name="Google Shape;23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7839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891082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902970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Notificación automática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902970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Ambas partes reciben aviso por correo.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9875520" y="-1463040"/>
            <a:ext cx="4389120" cy="43891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INNOVACIÓN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548640" y="676656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LicitAsist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548640" y="13533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Asistente conversacional con inteligencia artificial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lert_white.png" id="248" name="Google Shape;2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 txBox="1"/>
          <p:nvPr/>
        </p:nvSpPr>
        <p:spPr>
          <a:xfrm>
            <a:off x="1371600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777240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Licitadores y Pymes pierden tiempo revisando manualmente licitaciones, postulaciones y planes.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334256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essage_white.png"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557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5157216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4562856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Chatbot integrado que usa datos reales de la plataforma vía Groq API.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119872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348472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zap_gold.png" id="258" name="Google Shape;25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9173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8942832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8348472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Respuestas instantáneas, decisiones más rápidas y menor carga operativa.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fmla="val 6452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“¿Qué licitaciones de tecnología están abiertas y cierran esta semana?”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3 abiertas que cierran esta semana: “Soporte técnico TI” (2 días), “Desarrollo de sitio web” (4 días) y “Auditoría de ciberseguridad” (5 días). ¿Te ayudo a postular a alguna?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Microservicios, cada uno con su propia base de datos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335024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919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 txBox="1"/>
          <p:nvPr/>
        </p:nvSpPr>
        <p:spPr>
          <a:xfrm>
            <a:off x="685800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Usuarios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685800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Autenticación, perfiles y roles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798064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584448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280" name="Google Shape;2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7343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 txBox="1"/>
          <p:nvPr/>
        </p:nvSpPr>
        <p:spPr>
          <a:xfrm>
            <a:off x="2935224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Licitaciones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2935224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Publicación, búsqueda y postulación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047488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833872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285" name="Google Shape;28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6767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5184648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Ventas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5184648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Planes, suscripciones y pagos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296912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083296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290" name="Google Shape;29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6191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 txBox="1"/>
          <p:nvPr/>
        </p:nvSpPr>
        <p:spPr>
          <a:xfrm>
            <a:off x="7434072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Notificaciones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7434072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Alertas y confirmaciones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546336" y="2148840"/>
            <a:ext cx="2084832" cy="2286000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0332720" y="2404872"/>
            <a:ext cx="512064" cy="512064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essage_white.png" id="295" name="Google Shape;29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55615" y="252776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0"/>
          <p:cNvSpPr txBox="1"/>
          <p:nvPr/>
        </p:nvSpPr>
        <p:spPr>
          <a:xfrm>
            <a:off x="9683496" y="306324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Asistente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9683496" y="3566160"/>
            <a:ext cx="18105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Orquesta LicitAsist (sin BD propia)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822960" y="475488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Cada microservicio </a:t>
            </a: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expone su propia API REST y conserva su propia base de datos PostgreSQL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— no existe acceso directo entre bases de datos de distintos servicios. Backend en Java con Spring Boot; frontend en React.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Cómo se comunican los microservicios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Todo el tráfico entra por un único punto de control.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48640" y="1828800"/>
            <a:ext cx="110642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13232" y="1911096"/>
            <a:ext cx="338328" cy="33832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onitor_gold.png" id="312" name="Google Shape;3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356" y="1987220"/>
            <a:ext cx="186080" cy="18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 txBox="1"/>
          <p:nvPr/>
        </p:nvSpPr>
        <p:spPr>
          <a:xfrm>
            <a:off x="1188720" y="18288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Frontend — React + TypeScript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1"/>
          <p:cNvCxnSpPr/>
          <p:nvPr/>
        </p:nvCxnSpPr>
        <p:spPr>
          <a:xfrm>
            <a:off x="6080760" y="2331720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11"/>
          <p:cNvSpPr/>
          <p:nvPr/>
        </p:nvSpPr>
        <p:spPr>
          <a:xfrm>
            <a:off x="548640" y="2542032"/>
            <a:ext cx="11064240" cy="1188720"/>
          </a:xfrm>
          <a:prstGeom prst="roundRect">
            <a:avLst>
              <a:gd fmla="val 6923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822960" y="2688336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hield_gold.png" id="317" name="Google Shape;3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661" y="280903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 txBox="1"/>
          <p:nvPr/>
        </p:nvSpPr>
        <p:spPr>
          <a:xfrm>
            <a:off x="1463040" y="268833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22960" y="3291840"/>
            <a:ext cx="580644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822960" y="329184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549908" y="3291840"/>
            <a:ext cx="667512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1549908" y="3291840"/>
            <a:ext cx="667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363724" y="3291840"/>
            <a:ext cx="667512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2363724" y="3291840"/>
            <a:ext cx="667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177540" y="3291840"/>
            <a:ext cx="1188720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3177540" y="3291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Rate 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512564" y="3291840"/>
            <a:ext cx="1449324" cy="347472"/>
          </a:xfrm>
          <a:prstGeom prst="roundRect">
            <a:avLst>
              <a:gd fmla="val 50000" name="adj"/>
            </a:avLst>
          </a:prstGeom>
          <a:solidFill>
            <a:srgbClr val="24365C"/>
          </a:solidFill>
          <a:ln cap="flat" cmpd="sng" w="9525">
            <a:solidFill>
              <a:srgbClr val="3A5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4512564" y="3291840"/>
            <a:ext cx="14493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injection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1"/>
          <p:cNvCxnSpPr/>
          <p:nvPr/>
        </p:nvCxnSpPr>
        <p:spPr>
          <a:xfrm>
            <a:off x="6080760" y="3730752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1"/>
          <p:cNvCxnSpPr/>
          <p:nvPr/>
        </p:nvCxnSpPr>
        <p:spPr>
          <a:xfrm>
            <a:off x="1709928" y="3913632"/>
            <a:ext cx="8741664" cy="0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1"/>
          <p:cNvCxnSpPr/>
          <p:nvPr/>
        </p:nvCxnSpPr>
        <p:spPr>
          <a:xfrm>
            <a:off x="1856232" y="3913632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" name="Google Shape;332;p11"/>
          <p:cNvSpPr/>
          <p:nvPr/>
        </p:nvSpPr>
        <p:spPr>
          <a:xfrm>
            <a:off x="548640" y="4023360"/>
            <a:ext cx="2615184" cy="141732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618488" y="4224528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334" name="Google Shape;3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2605" y="4338645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 txBox="1"/>
          <p:nvPr/>
        </p:nvSpPr>
        <p:spPr>
          <a:xfrm>
            <a:off x="640080" y="48463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1"/>
          <p:cNvCxnSpPr/>
          <p:nvPr/>
        </p:nvCxnSpPr>
        <p:spPr>
          <a:xfrm>
            <a:off x="4672584" y="3913632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1"/>
          <p:cNvSpPr/>
          <p:nvPr/>
        </p:nvSpPr>
        <p:spPr>
          <a:xfrm>
            <a:off x="3364992" y="4023360"/>
            <a:ext cx="2615184" cy="141732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434840" y="4224528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339" name="Google Shape;33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8957" y="4338645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 txBox="1"/>
          <p:nvPr/>
        </p:nvSpPr>
        <p:spPr>
          <a:xfrm>
            <a:off x="3456432" y="48463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Licitaciones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1"/>
          <p:cNvCxnSpPr/>
          <p:nvPr/>
        </p:nvCxnSpPr>
        <p:spPr>
          <a:xfrm>
            <a:off x="7488936" y="3913632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p11"/>
          <p:cNvSpPr/>
          <p:nvPr/>
        </p:nvSpPr>
        <p:spPr>
          <a:xfrm>
            <a:off x="6181344" y="4023360"/>
            <a:ext cx="2615184" cy="141732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251192" y="4224528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344" name="Google Shape;34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5309" y="4338645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 txBox="1"/>
          <p:nvPr/>
        </p:nvSpPr>
        <p:spPr>
          <a:xfrm>
            <a:off x="6272784" y="48463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MS-Ventas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1"/>
          <p:cNvCxnSpPr/>
          <p:nvPr/>
        </p:nvCxnSpPr>
        <p:spPr>
          <a:xfrm>
            <a:off x="10305288" y="3913632"/>
            <a:ext cx="0" cy="109728"/>
          </a:xfrm>
          <a:prstGeom prst="straightConnector1">
            <a:avLst/>
          </a:prstGeom>
          <a:noFill/>
          <a:ln cap="flat" cmpd="sng" w="19050">
            <a:solidFill>
              <a:srgbClr val="5C6B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7" name="Google Shape;347;p11"/>
          <p:cNvSpPr/>
          <p:nvPr/>
        </p:nvSpPr>
        <p:spPr>
          <a:xfrm>
            <a:off x="8997696" y="4023360"/>
            <a:ext cx="2615184" cy="141732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10067544" y="4224528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349" name="Google Shape;34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81661" y="4338645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1"/>
          <p:cNvSpPr txBox="1"/>
          <p:nvPr/>
        </p:nvSpPr>
        <p:spPr>
          <a:xfrm>
            <a:off x="9089136" y="48463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Notificaciones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48640" y="5715000"/>
            <a:ext cx="11064240" cy="621792"/>
          </a:xfrm>
          <a:prstGeom prst="roundRect">
            <a:avLst>
              <a:gd fmla="val 11765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822960" y="5715000"/>
            <a:ext cx="10607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API Notificaciones también recibe llamadas REST directas de </a:t>
            </a:r>
            <a:r>
              <a:rPr lang="en-US"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Usuarios,</a:t>
            </a: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Licitaciones y MS-Ventas cuando ocurre un evento — sin bus de mensajería.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USUARIOS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El núcleo de identidad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 usuario base, especializado por rol — normalizado, sin duplicar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48640" y="1828800"/>
            <a:ext cx="539496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48640" y="182880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548640" y="202082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694944" y="18288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694944" y="226771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3246120" y="226771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694944" y="256032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3246120" y="256032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6217920" y="1828800"/>
            <a:ext cx="539496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6217920" y="182880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217920" y="202082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6364224" y="18288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6364224" y="226771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8915400" y="226771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6364224" y="256032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8915400" y="256032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6364224" y="2852928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rol_id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8915400" y="2852928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6364224" y="3145536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activo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8915400" y="3145536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548640" y="3703320"/>
            <a:ext cx="3538728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548640" y="3703320"/>
            <a:ext cx="3538728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48640" y="3895344"/>
            <a:ext cx="3538728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694944" y="3703320"/>
            <a:ext cx="3264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licitador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694944" y="4142232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2318004" y="4142232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 txBox="1"/>
          <p:nvPr/>
        </p:nvSpPr>
        <p:spPr>
          <a:xfrm>
            <a:off x="694944" y="4434840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2318004" y="4434840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694944" y="4727448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razon_social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2318004" y="4727448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694944" y="5020056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2318004" y="5020056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288536" y="3703320"/>
            <a:ext cx="3538728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4288536" y="3703320"/>
            <a:ext cx="3538728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288536" y="3895344"/>
            <a:ext cx="3538728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4434840" y="3703320"/>
            <a:ext cx="3264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4434840" y="4142232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6057900" y="4142232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4434840" y="4434840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6057900" y="4434840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4434840" y="4727448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nombre_contacto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6057900" y="4727448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 txBox="1"/>
          <p:nvPr/>
        </p:nvSpPr>
        <p:spPr>
          <a:xfrm>
            <a:off x="4434840" y="5020056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rut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6057900" y="5020056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8028432" y="3703320"/>
            <a:ext cx="3538728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8028432" y="3703320"/>
            <a:ext cx="3538728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8028432" y="3895344"/>
            <a:ext cx="3538728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8174736" y="3703320"/>
            <a:ext cx="3264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administrador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 txBox="1"/>
          <p:nvPr/>
        </p:nvSpPr>
        <p:spPr>
          <a:xfrm>
            <a:off x="8174736" y="4142232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9797796" y="4142232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8174736" y="4434840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9797796" y="4434840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8174736" y="4727448"/>
            <a:ext cx="18401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area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9797796" y="4727448"/>
            <a:ext cx="155228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fmla="val 10000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licitador, pyme y administrador comparten el mismo usuario base — cada uno lo extiende 1:1 con sus propios datos, sin repetir email ni contraseña.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LICITACIONES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Una licitación, muchas postulaciones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Relación 1 : N — cada licitación puede recibir varias postulaciones.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548640" y="2011680"/>
            <a:ext cx="5394960" cy="2249424"/>
          </a:xfrm>
          <a:prstGeom prst="roundRect">
            <a:avLst>
              <a:gd fmla="val 3252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548640" y="201168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48640" y="220370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694944" y="201168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licitacion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 txBox="1"/>
          <p:nvPr/>
        </p:nvSpPr>
        <p:spPr>
          <a:xfrm>
            <a:off x="694944" y="245059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 txBox="1"/>
          <p:nvPr/>
        </p:nvSpPr>
        <p:spPr>
          <a:xfrm>
            <a:off x="3246120" y="245059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694944" y="274320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licitador_id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3246120" y="274320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694944" y="3035808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 txBox="1"/>
          <p:nvPr/>
        </p:nvSpPr>
        <p:spPr>
          <a:xfrm>
            <a:off x="3246120" y="3035808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 txBox="1"/>
          <p:nvPr/>
        </p:nvSpPr>
        <p:spPr>
          <a:xfrm>
            <a:off x="694944" y="3328416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monto_estimado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 txBox="1"/>
          <p:nvPr/>
        </p:nvSpPr>
        <p:spPr>
          <a:xfrm>
            <a:off x="3246120" y="3328416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 txBox="1"/>
          <p:nvPr/>
        </p:nvSpPr>
        <p:spPr>
          <a:xfrm>
            <a:off x="694944" y="3621024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fecha_cierre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 txBox="1"/>
          <p:nvPr/>
        </p:nvSpPr>
        <p:spPr>
          <a:xfrm>
            <a:off x="3246120" y="3621024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694944" y="391363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3246120" y="391363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6217920" y="2011680"/>
            <a:ext cx="5394960" cy="1956816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6217920" y="2011680"/>
            <a:ext cx="539496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6217920" y="2203704"/>
            <a:ext cx="539496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6364224" y="201168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postulacion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 txBox="1"/>
          <p:nvPr/>
        </p:nvSpPr>
        <p:spPr>
          <a:xfrm>
            <a:off x="6364224" y="2450592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 txBox="1"/>
          <p:nvPr/>
        </p:nvSpPr>
        <p:spPr>
          <a:xfrm>
            <a:off x="8915400" y="2450592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6364224" y="2743200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licitacion_id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 txBox="1"/>
          <p:nvPr/>
        </p:nvSpPr>
        <p:spPr>
          <a:xfrm>
            <a:off x="8915400" y="2743200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licitacion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 txBox="1"/>
          <p:nvPr/>
        </p:nvSpPr>
        <p:spPr>
          <a:xfrm>
            <a:off x="6364224" y="3035808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pyme_id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 txBox="1"/>
          <p:nvPr/>
        </p:nvSpPr>
        <p:spPr>
          <a:xfrm>
            <a:off x="8915400" y="3035808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 txBox="1"/>
          <p:nvPr/>
        </p:nvSpPr>
        <p:spPr>
          <a:xfrm>
            <a:off x="6364224" y="3328416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fecha_postulacion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8915400" y="3328416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6364224" y="3621024"/>
            <a:ext cx="2805379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 txBox="1"/>
          <p:nvPr/>
        </p:nvSpPr>
        <p:spPr>
          <a:xfrm>
            <a:off x="8915400" y="3621024"/>
            <a:ext cx="2443277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822960" y="443484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licitador_id y pyme_id no son llaves foráneas hacia otra base de datos: son un ID simple que se valida por API contra el microservicio de Usuarios — cada base sigue siendo dueña exclusiva de sus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MS-VENTAS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 la suscripción al pago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flujo va en cadena: un plan da origen a una suscripción, una venta y un pago.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548640" y="1828800"/>
            <a:ext cx="2596896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48640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548640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"/>
          <p:cNvSpPr txBox="1"/>
          <p:nvPr/>
        </p:nvSpPr>
        <p:spPr>
          <a:xfrm>
            <a:off x="694944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plan_suscripcion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 txBox="1"/>
          <p:nvPr/>
        </p:nvSpPr>
        <p:spPr>
          <a:xfrm>
            <a:off x="694944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 txBox="1"/>
          <p:nvPr/>
        </p:nvSpPr>
        <p:spPr>
          <a:xfrm>
            <a:off x="1847088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 txBox="1"/>
          <p:nvPr/>
        </p:nvSpPr>
        <p:spPr>
          <a:xfrm>
            <a:off x="694944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1847088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Estándar/Premium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3346704" y="1828800"/>
            <a:ext cx="2596896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3346704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3346704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 txBox="1"/>
          <p:nvPr/>
        </p:nvSpPr>
        <p:spPr>
          <a:xfrm>
            <a:off x="3493008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suscripcion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 txBox="1"/>
          <p:nvPr/>
        </p:nvSpPr>
        <p:spPr>
          <a:xfrm>
            <a:off x="3493008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4645152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3493008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4645152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3493008" y="2852928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plan_id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 txBox="1"/>
          <p:nvPr/>
        </p:nvSpPr>
        <p:spPr>
          <a:xfrm>
            <a:off x="4645152" y="2852928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3493008" y="3145536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 txBox="1"/>
          <p:nvPr/>
        </p:nvSpPr>
        <p:spPr>
          <a:xfrm>
            <a:off x="4645152" y="3145536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6144768" y="1828800"/>
            <a:ext cx="2596896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144768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6144768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4"/>
          <p:cNvSpPr txBox="1"/>
          <p:nvPr/>
        </p:nvSpPr>
        <p:spPr>
          <a:xfrm>
            <a:off x="6291072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venta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6291072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7443216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6291072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suscripcion_id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 txBox="1"/>
          <p:nvPr/>
        </p:nvSpPr>
        <p:spPr>
          <a:xfrm>
            <a:off x="7443216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suscripcion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6291072" y="2852928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monto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7443216" y="2852928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6291072" y="3145536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fecha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 txBox="1"/>
          <p:nvPr/>
        </p:nvSpPr>
        <p:spPr>
          <a:xfrm>
            <a:off x="7443216" y="3145536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8942832" y="1828800"/>
            <a:ext cx="2596896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8942832" y="1828800"/>
            <a:ext cx="2596896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8942832" y="2020824"/>
            <a:ext cx="2596896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9089136" y="1828800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9089136" y="2267712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10241280" y="2267712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 txBox="1"/>
          <p:nvPr/>
        </p:nvSpPr>
        <p:spPr>
          <a:xfrm>
            <a:off x="9089136" y="2560320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venta_id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 txBox="1"/>
          <p:nvPr/>
        </p:nvSpPr>
        <p:spPr>
          <a:xfrm>
            <a:off x="10241280" y="2560320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FK/UNIQUE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9089136" y="2852928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id_transaccion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10241280" y="2852928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pasarela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9089136" y="3145536"/>
            <a:ext cx="135038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estado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10241280" y="3145536"/>
            <a:ext cx="11002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548640" y="397764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 txBox="1"/>
          <p:nvPr/>
        </p:nvSpPr>
        <p:spPr>
          <a:xfrm>
            <a:off x="822960" y="397764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usuario_id no es una llave foránea hacia otra base de datos: es un ID simple validado por API contra el microservicio de Usuarios.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NOTIFICACIONES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registro por cada evento importante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microservicio más simple: una sola tabla, sin relaciones propias.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548640" y="1965960"/>
            <a:ext cx="5029200" cy="1664208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548640" y="1965960"/>
            <a:ext cx="5029200" cy="384048"/>
          </a:xfrm>
          <a:prstGeom prst="roundRect">
            <a:avLst>
              <a:gd fmla="val 1904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548640" y="2157984"/>
            <a:ext cx="5029200" cy="192024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 txBox="1"/>
          <p:nvPr/>
        </p:nvSpPr>
        <p:spPr>
          <a:xfrm>
            <a:off x="694944" y="196596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notificacion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 txBox="1"/>
          <p:nvPr/>
        </p:nvSpPr>
        <p:spPr>
          <a:xfrm>
            <a:off x="694944" y="2404872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3063240" y="2404872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 txBox="1"/>
          <p:nvPr/>
        </p:nvSpPr>
        <p:spPr>
          <a:xfrm>
            <a:off x="694944" y="2697480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3063240" y="2697480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FK →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694944" y="2990088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tipo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3063240" y="2990088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 txBox="1"/>
          <p:nvPr/>
        </p:nvSpPr>
        <p:spPr>
          <a:xfrm>
            <a:off x="694944" y="3282696"/>
            <a:ext cx="2615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rPr>
              <a:t>canal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3063240" y="3282696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6035040" y="1965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¿QUÉ DISPARA UNA NOTIFICACIÓN?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6035040" y="2377440"/>
            <a:ext cx="457200" cy="457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541" name="Google Shape;5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9340" y="24917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5"/>
          <p:cNvSpPr txBox="1"/>
          <p:nvPr/>
        </p:nvSpPr>
        <p:spPr>
          <a:xfrm>
            <a:off x="6675120" y="23774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Licitación publicada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6035040" y="3063240"/>
            <a:ext cx="457200" cy="457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544" name="Google Shape;5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3154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6675120" y="30632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Postulación recibida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6035040" y="3749040"/>
            <a:ext cx="457200" cy="4572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reditcard_white.png" id="547" name="Google Shape;5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9340" y="38633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5"/>
          <p:cNvSpPr txBox="1"/>
          <p:nvPr/>
        </p:nvSpPr>
        <p:spPr>
          <a:xfrm>
            <a:off x="6675120" y="37490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Pago confirmado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822960" y="470916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 tiene relaciones con otras tablas propias: API Licitaciones y API MS-Ventas la llaman directamente por REST cuando ocurre uno de estos eventos.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entra y qué no entra en el MVP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1E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562" name="Google Shape;5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6"/>
          <p:cNvSpPr txBox="1"/>
          <p:nvPr/>
        </p:nvSpPr>
        <p:spPr>
          <a:xfrm>
            <a:off x="1417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7A3D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 txBox="1"/>
          <p:nvPr/>
        </p:nvSpPr>
        <p:spPr>
          <a:xfrm>
            <a:off x="868680" y="2697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Registro y autenticación (3 perfiles)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 txBox="1"/>
          <p:nvPr/>
        </p:nvSpPr>
        <p:spPr>
          <a:xfrm>
            <a:off x="868680" y="31089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Publicación y administración de licitaciones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 txBox="1"/>
          <p:nvPr/>
        </p:nvSpPr>
        <p:spPr>
          <a:xfrm>
            <a:off x="868680" y="35204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Búsqueda y postulación de Pymes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 txBox="1"/>
          <p:nvPr/>
        </p:nvSpPr>
        <p:spPr>
          <a:xfrm>
            <a:off x="868680" y="39319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Planes de suscripción Estándar y Premium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 txBox="1"/>
          <p:nvPr/>
        </p:nvSpPr>
        <p:spPr>
          <a:xfrm>
            <a:off x="868680" y="43434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pasarela de pago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 txBox="1"/>
          <p:nvPr/>
        </p:nvSpPr>
        <p:spPr>
          <a:xfrm>
            <a:off x="868680" y="47548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Panel de administración general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 txBox="1"/>
          <p:nvPr/>
        </p:nvSpPr>
        <p:spPr>
          <a:xfrm>
            <a:off x="868680" y="51663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LicitAsist: asistente con 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B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x_red.png" id="573" name="Google Shape;5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0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6"/>
          <p:cNvSpPr txBox="1"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6583680" y="26974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Obtención automática de licitaciones públicas externas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/>
        </p:nvSpPr>
        <p:spPr>
          <a:xfrm>
            <a:off x="6583680" y="3108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Aplicación móvil nativa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Motor propio de recomendación con machine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 txBox="1"/>
          <p:nvPr/>
        </p:nvSpPr>
        <p:spPr>
          <a:xfrm>
            <a:off x="6583680" y="39319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ERP externos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Scrum — 6 sprints de 2 semanas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 txBox="1"/>
          <p:nvPr/>
        </p:nvSpPr>
        <p:spPr>
          <a:xfrm>
            <a:off x="699515" y="1362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Aproximadamente 4 meses, con un entregable funcional al cierre de cada sprint.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548640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946404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7"/>
          <p:cNvSpPr txBox="1"/>
          <p:nvPr/>
        </p:nvSpPr>
        <p:spPr>
          <a:xfrm>
            <a:off x="946404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640080" y="288036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Análisis diseño y arquitectura inicial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1947672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234543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7"/>
          <p:cNvSpPr txBox="1"/>
          <p:nvPr/>
        </p:nvSpPr>
        <p:spPr>
          <a:xfrm>
            <a:off x="234543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 txBox="1"/>
          <p:nvPr/>
        </p:nvSpPr>
        <p:spPr>
          <a:xfrm>
            <a:off x="2039112" y="288036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 y registro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3346704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3744468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3744468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 txBox="1"/>
          <p:nvPr/>
        </p:nvSpPr>
        <p:spPr>
          <a:xfrm>
            <a:off x="3438144" y="288036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4745736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5143500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7"/>
          <p:cNvSpPr txBox="1"/>
          <p:nvPr/>
        </p:nvSpPr>
        <p:spPr>
          <a:xfrm>
            <a:off x="5143500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 txBox="1"/>
          <p:nvPr/>
        </p:nvSpPr>
        <p:spPr>
          <a:xfrm>
            <a:off x="4805172" y="2948940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y seleccione</a:t>
            </a:r>
            <a:r>
              <a:rPr b="0" i="0" lang="en-US" sz="105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05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6144768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6542532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6542532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 txBox="1"/>
          <p:nvPr/>
        </p:nvSpPr>
        <p:spPr>
          <a:xfrm>
            <a:off x="6236208" y="2935224"/>
            <a:ext cx="1088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Administrador y Estado de postulaciones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7543800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7941564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7"/>
          <p:cNvSpPr txBox="1"/>
          <p:nvPr/>
        </p:nvSpPr>
        <p:spPr>
          <a:xfrm>
            <a:off x="7941575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fmla="val 4706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7"/>
          <p:cNvSpPr txBox="1"/>
          <p:nvPr/>
        </p:nvSpPr>
        <p:spPr>
          <a:xfrm>
            <a:off x="822960" y="4315968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Facilitadores:  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stack tecnológico definido desde el inicio, 100% herramientas gratuitas para el desarrollo.</a:t>
            </a:r>
            <a:b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Obstaculizadores:  </a:t>
            </a:r>
            <a:r>
              <a:rPr lang="en-US" sz="12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ependencia de servicios externos con nivel gratuito limitado (IA y pasarela de pago) y coordinación entre </a:t>
            </a:r>
            <a:r>
              <a:rPr lang="en-US" sz="12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4 APis internas y 2 Apis externas.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 txBox="1"/>
          <p:nvPr/>
        </p:nvSpPr>
        <p:spPr>
          <a:xfrm>
            <a:off x="9528493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 txBox="1"/>
          <p:nvPr/>
        </p:nvSpPr>
        <p:spPr>
          <a:xfrm>
            <a:off x="9367582" y="2413944"/>
            <a:ext cx="1111418" cy="347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7"/>
          <p:cNvSpPr txBox="1"/>
          <p:nvPr/>
        </p:nvSpPr>
        <p:spPr>
          <a:xfrm>
            <a:off x="10954500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9045921" y="2103120"/>
            <a:ext cx="1271016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9443685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7"/>
          <p:cNvSpPr txBox="1"/>
          <p:nvPr/>
        </p:nvSpPr>
        <p:spPr>
          <a:xfrm>
            <a:off x="9443673" y="2276245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 txBox="1"/>
          <p:nvPr/>
        </p:nvSpPr>
        <p:spPr>
          <a:xfrm>
            <a:off x="7641096" y="2880312"/>
            <a:ext cx="1088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 Externa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 txBox="1"/>
          <p:nvPr/>
        </p:nvSpPr>
        <p:spPr>
          <a:xfrm>
            <a:off x="9222208" y="2880299"/>
            <a:ext cx="1088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lang="en-US" sz="1050" u="sng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LicitAsist (IA) + Notificaciones </a:t>
            </a:r>
            <a:endParaRPr b="0" i="0" sz="10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8"/>
          <p:cNvSpPr/>
          <p:nvPr/>
        </p:nvSpPr>
        <p:spPr>
          <a:xfrm>
            <a:off x="-1371600" y="-1463040"/>
            <a:ext cx="4206240" cy="420624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ward_gold.png" id="632" name="Google Shape;6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14287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8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822960" y="25420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sistema privado, propio y sostenible.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LicitaWatch deja de depender de portales externos: los Licitadores publican, las Pymes postulan, y los planes de suscripción financian la operación.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637" name="Google Shape;6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42226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8"/>
          <p:cNvSpPr txBox="1"/>
          <p:nvPr/>
        </p:nvSpPr>
        <p:spPr>
          <a:xfrm>
            <a:off x="1280160" y="41605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640" name="Google Shape;6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472561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18"/>
          <p:cNvSpPr txBox="1"/>
          <p:nvPr/>
        </p:nvSpPr>
        <p:spPr>
          <a:xfrm>
            <a:off x="1280160" y="466344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negocio propio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643" name="Google Shape;6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522853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18"/>
          <p:cNvSpPr txBox="1"/>
          <p:nvPr/>
        </p:nvSpPr>
        <p:spPr>
          <a:xfrm>
            <a:off x="1280160" y="51663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LicitAsist · IA integrada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Gracias — preguntas y comentarios son bienvenidos.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2026-09-23T15:29:00Z</dcterms:created>
  <dc:creator>PptxGenJS</dc:creator>
</cp:coreProperties>
</file>